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76" r:id="rId2"/>
    <p:sldId id="258" r:id="rId3"/>
    <p:sldId id="259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17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6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25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0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9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2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9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56345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406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45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3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307E94F-AD5B-4DA9-BDDB-4345F129EE4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538EE9A-61B6-4285-9104-2EA8F7447E9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45349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95D7-1727-EB77-0A68-81FEB389AA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Bahir </a:t>
            </a:r>
            <a:r>
              <a:rPr lang="en-US" sz="4400" dirty="0" err="1"/>
              <a:t>dar</a:t>
            </a:r>
            <a:r>
              <a:rPr lang="en-US" sz="4400" dirty="0"/>
              <a:t> university department of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58C90-1DF4-72B7-AF9E-93E553126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4180" y="4572000"/>
            <a:ext cx="9070848" cy="821263"/>
          </a:xfrm>
        </p:spPr>
        <p:txBody>
          <a:bodyPr>
            <a:normAutofit fontScale="32500" lnSpcReduction="2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 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US" sz="4000" dirty="0"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:Dawit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Tigabu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ID:1305800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114757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47E310-0687-4040-57A9-BAA3ADEBF8C0}"/>
              </a:ext>
            </a:extLst>
          </p:cNvPr>
          <p:cNvSpPr txBox="1"/>
          <p:nvPr/>
        </p:nvSpPr>
        <p:spPr>
          <a:xfrm>
            <a:off x="2002420" y="1226916"/>
            <a:ext cx="844951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1</a:t>
            </a:r>
          </a:p>
          <a:p>
            <a:r>
              <a:rPr lang="en-US" sz="2000" b="1" dirty="0"/>
              <a:t>1. Define terminals and non-terminals with examples</a:t>
            </a:r>
          </a:p>
          <a:p>
            <a:r>
              <a:rPr lang="en-US" sz="2000" b="1" dirty="0"/>
              <a:t>In the context of context-free grammars (CFGs):</a:t>
            </a:r>
          </a:p>
          <a:p>
            <a:endParaRPr lang="en-US" sz="2000" b="1" dirty="0"/>
          </a:p>
          <a:p>
            <a:r>
              <a:rPr lang="en-US" sz="2000" b="1" dirty="0"/>
              <a:t>Terminals</a:t>
            </a:r>
          </a:p>
          <a:p>
            <a:endParaRPr lang="en-US" sz="2000" b="1" dirty="0"/>
          </a:p>
          <a:p>
            <a:r>
              <a:rPr lang="en-US" sz="2000" dirty="0"/>
              <a:t>• </a:t>
            </a:r>
            <a:r>
              <a:rPr lang="en-US" sz="2000" b="1" dirty="0"/>
              <a:t> Definition: </a:t>
            </a:r>
            <a:r>
              <a:rPr lang="en-US" sz="2000" dirty="0"/>
              <a:t>Terminals are the basic symbols of the language that cannot be replaced by any other symbols using grammar productions.</a:t>
            </a:r>
          </a:p>
          <a:p>
            <a:r>
              <a:rPr lang="en-US" sz="2000" dirty="0"/>
              <a:t> They appear in the final strings generated by the grammar.</a:t>
            </a:r>
          </a:p>
          <a:p>
            <a:endParaRPr lang="en-US" sz="2000" dirty="0"/>
          </a:p>
          <a:p>
            <a:r>
              <a:rPr lang="en-US" sz="2000" b="1" dirty="0"/>
              <a:t>•  Examples:</a:t>
            </a:r>
          </a:p>
          <a:p>
            <a:r>
              <a:rPr lang="en-US" sz="2000" dirty="0"/>
              <a:t>o  In arithmetic expressions: +, *, (, ), id, num</a:t>
            </a:r>
          </a:p>
          <a:p>
            <a:r>
              <a:rPr lang="en-US" sz="2000" dirty="0"/>
              <a:t>o  In the grammar</a:t>
            </a:r>
          </a:p>
          <a:p>
            <a:r>
              <a:rPr lang="en-US" sz="2000" dirty="0"/>
              <a:t>S → </a:t>
            </a:r>
            <a:r>
              <a:rPr lang="en-US" sz="2000" dirty="0" err="1"/>
              <a:t>aSa</a:t>
            </a:r>
            <a:r>
              <a:rPr lang="en-US" sz="2000" dirty="0"/>
              <a:t> | </a:t>
            </a:r>
            <a:r>
              <a:rPr lang="en-US" sz="2000" dirty="0" err="1"/>
              <a:t>bSb</a:t>
            </a:r>
            <a:r>
              <a:rPr lang="en-US" sz="2000" dirty="0"/>
              <a:t> | c</a:t>
            </a:r>
          </a:p>
          <a:p>
            <a:r>
              <a:rPr lang="en-US" sz="2000" dirty="0"/>
              <a:t>the terminals are: { a, b, c }</a:t>
            </a:r>
          </a:p>
        </p:txBody>
      </p:sp>
    </p:spTree>
    <p:extLst>
      <p:ext uri="{BB962C8B-B14F-4D97-AF65-F5344CB8AC3E}">
        <p14:creationId xmlns:p14="http://schemas.microsoft.com/office/powerpoint/2010/main" val="220553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EB8121-B62D-1FC9-2791-E5F08C37775B}"/>
              </a:ext>
            </a:extLst>
          </p:cNvPr>
          <p:cNvSpPr txBox="1"/>
          <p:nvPr/>
        </p:nvSpPr>
        <p:spPr>
          <a:xfrm>
            <a:off x="1713053" y="1435261"/>
            <a:ext cx="92828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Non-terminals</a:t>
            </a:r>
          </a:p>
          <a:p>
            <a:endParaRPr lang="en-US" sz="2000" b="1" dirty="0"/>
          </a:p>
          <a:p>
            <a:r>
              <a:rPr lang="en-US" sz="2000" dirty="0"/>
              <a:t>•  </a:t>
            </a:r>
            <a:r>
              <a:rPr lang="en-US" sz="2000" b="1" dirty="0"/>
              <a:t>Definition</a:t>
            </a:r>
            <a:r>
              <a:rPr lang="en-US" sz="2000" dirty="0"/>
              <a:t>: Non-terminals are syntactic variables used to define the structure of the language. </a:t>
            </a:r>
          </a:p>
          <a:p>
            <a:r>
              <a:rPr lang="en-US" sz="2000" dirty="0"/>
              <a:t>   They can be expanded using production rules.</a:t>
            </a:r>
          </a:p>
          <a:p>
            <a:endParaRPr lang="en-US" sz="2000" dirty="0"/>
          </a:p>
          <a:p>
            <a:r>
              <a:rPr lang="en-US" sz="2000" b="1" dirty="0"/>
              <a:t>•  Examples:</a:t>
            </a:r>
          </a:p>
          <a:p>
            <a:endParaRPr lang="en-US" sz="2000" b="1" dirty="0"/>
          </a:p>
          <a:p>
            <a:r>
              <a:rPr lang="en-US" sz="2000" dirty="0"/>
              <a:t>o  In arithmetic expressions: E (Expression), T (Term), F (Factor)</a:t>
            </a:r>
          </a:p>
          <a:p>
            <a:r>
              <a:rPr lang="en-US" sz="2000" dirty="0"/>
              <a:t>o  In the grammar</a:t>
            </a:r>
          </a:p>
          <a:p>
            <a:r>
              <a:rPr lang="en-US" sz="2000" dirty="0"/>
              <a:t>S → </a:t>
            </a:r>
            <a:r>
              <a:rPr lang="en-US" sz="2000" dirty="0" err="1"/>
              <a:t>aSa</a:t>
            </a:r>
            <a:r>
              <a:rPr lang="en-US" sz="2000" dirty="0"/>
              <a:t> | </a:t>
            </a:r>
            <a:r>
              <a:rPr lang="en-US" sz="2000" dirty="0" err="1"/>
              <a:t>bSb</a:t>
            </a:r>
            <a:r>
              <a:rPr lang="en-US" sz="2000" dirty="0"/>
              <a:t> | c</a:t>
            </a:r>
          </a:p>
          <a:p>
            <a:r>
              <a:rPr lang="en-US" sz="2000" dirty="0"/>
              <a:t>the non-terminal is: { S }</a:t>
            </a:r>
          </a:p>
        </p:txBody>
      </p:sp>
    </p:spTree>
    <p:extLst>
      <p:ext uri="{BB962C8B-B14F-4D97-AF65-F5344CB8AC3E}">
        <p14:creationId xmlns:p14="http://schemas.microsoft.com/office/powerpoint/2010/main" val="148185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E57133-58F4-E50B-5F4B-5C2021DE339A}"/>
              </a:ext>
            </a:extLst>
          </p:cNvPr>
          <p:cNvSpPr txBox="1"/>
          <p:nvPr/>
        </p:nvSpPr>
        <p:spPr>
          <a:xfrm>
            <a:off x="1203767" y="868101"/>
            <a:ext cx="902825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2. (C++) Implement a function to validate a string containing only '0' and '1’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following C++ function checks whether a given string is a valid binary string (contains only 0 and 1):</a:t>
            </a:r>
          </a:p>
          <a:p>
            <a:r>
              <a:rPr lang="en-US" sz="2000" dirty="0"/>
              <a:t>#include &lt;string&gt;</a:t>
            </a:r>
          </a:p>
          <a:p>
            <a:endParaRPr lang="en-US" sz="2000" dirty="0"/>
          </a:p>
          <a:p>
            <a:r>
              <a:rPr lang="en-US" sz="2000" dirty="0"/>
              <a:t>bool </a:t>
            </a:r>
            <a:r>
              <a:rPr lang="en-US" sz="2000" dirty="0" err="1"/>
              <a:t>isBinaryString</a:t>
            </a:r>
            <a:r>
              <a:rPr lang="en-US" sz="2000" dirty="0"/>
              <a:t>(const std::string&amp; str) {</a:t>
            </a:r>
          </a:p>
          <a:p>
            <a:r>
              <a:rPr lang="en-US" sz="2000" dirty="0"/>
              <a:t>    if (</a:t>
            </a:r>
            <a:r>
              <a:rPr lang="en-US" sz="2000" dirty="0" err="1"/>
              <a:t>str.empty</a:t>
            </a:r>
            <a:r>
              <a:rPr lang="en-US" sz="2000" dirty="0"/>
              <a:t>())</a:t>
            </a:r>
          </a:p>
          <a:p>
            <a:r>
              <a:rPr lang="en-US" sz="2000" dirty="0"/>
              <a:t>        return false;</a:t>
            </a:r>
          </a:p>
          <a:p>
            <a:endParaRPr lang="en-US" sz="2000" dirty="0"/>
          </a:p>
          <a:p>
            <a:r>
              <a:rPr lang="en-US" sz="2000" dirty="0"/>
              <a:t>    for (char </a:t>
            </a:r>
            <a:r>
              <a:rPr lang="en-US" sz="2000" dirty="0" err="1"/>
              <a:t>ch</a:t>
            </a:r>
            <a:r>
              <a:rPr lang="en-US" sz="2000" dirty="0"/>
              <a:t> : str) {</a:t>
            </a:r>
          </a:p>
          <a:p>
            <a:r>
              <a:rPr lang="en-US" sz="2000" dirty="0"/>
              <a:t>        if (</a:t>
            </a:r>
            <a:r>
              <a:rPr lang="en-US" sz="2000" dirty="0" err="1"/>
              <a:t>ch</a:t>
            </a:r>
            <a:r>
              <a:rPr lang="en-US" sz="2000" dirty="0"/>
              <a:t> != '0' &amp;&amp; </a:t>
            </a:r>
            <a:r>
              <a:rPr lang="en-US" sz="2000" dirty="0" err="1"/>
              <a:t>ch</a:t>
            </a:r>
            <a:r>
              <a:rPr lang="en-US" sz="2000" dirty="0"/>
              <a:t> != '1') {</a:t>
            </a:r>
          </a:p>
          <a:p>
            <a:r>
              <a:rPr lang="en-US" sz="2000" dirty="0"/>
              <a:t>            return false;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    return true;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252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D3EE09-02B7-0447-E9C4-FAC9079665C5}"/>
              </a:ext>
            </a:extLst>
          </p:cNvPr>
          <p:cNvSpPr txBox="1"/>
          <p:nvPr/>
        </p:nvSpPr>
        <p:spPr>
          <a:xfrm>
            <a:off x="1180618" y="1111170"/>
            <a:ext cx="871573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Example usage: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dirty="0"/>
              <a:t>#include &lt;iostream&gt;</a:t>
            </a:r>
          </a:p>
          <a:p>
            <a:endParaRPr lang="en-US" sz="2000" dirty="0"/>
          </a:p>
          <a:p>
            <a:r>
              <a:rPr lang="en-US" sz="2000" dirty="0"/>
              <a:t>int main() {</a:t>
            </a:r>
          </a:p>
          <a:p>
            <a:r>
              <a:rPr lang="en-US" sz="2000" dirty="0"/>
              <a:t>    std::string input = "101010";</a:t>
            </a:r>
          </a:p>
          <a:p>
            <a:r>
              <a:rPr lang="en-US" sz="2000" dirty="0"/>
              <a:t>    if (</a:t>
            </a:r>
            <a:r>
              <a:rPr lang="en-US" sz="2000" dirty="0" err="1"/>
              <a:t>isBinaryString</a:t>
            </a:r>
            <a:r>
              <a:rPr lang="en-US" sz="2000" dirty="0"/>
              <a:t>(input))</a:t>
            </a:r>
          </a:p>
          <a:p>
            <a:r>
              <a:rPr lang="en-US" sz="2000" dirty="0"/>
              <a:t>        std::</a:t>
            </a:r>
            <a:r>
              <a:rPr lang="en-US" sz="2000" dirty="0" err="1"/>
              <a:t>cout</a:t>
            </a:r>
            <a:r>
              <a:rPr lang="en-US" sz="2000" dirty="0"/>
              <a:t> &lt;&lt; "Valid binary string\n";</a:t>
            </a:r>
          </a:p>
          <a:p>
            <a:r>
              <a:rPr lang="en-US" sz="2000" dirty="0"/>
              <a:t>    else</a:t>
            </a:r>
          </a:p>
          <a:p>
            <a:r>
              <a:rPr lang="en-US" sz="2000" dirty="0"/>
              <a:t>        std::</a:t>
            </a:r>
            <a:r>
              <a:rPr lang="en-US" sz="2000" dirty="0" err="1"/>
              <a:t>cout</a:t>
            </a:r>
            <a:r>
              <a:rPr lang="en-US" sz="2000" dirty="0"/>
              <a:t> &lt;&lt; "Invalid binary string\n";</a:t>
            </a:r>
          </a:p>
          <a:p>
            <a:endParaRPr lang="en-US" sz="2000" dirty="0"/>
          </a:p>
          <a:p>
            <a:r>
              <a:rPr lang="en-US" sz="2000" dirty="0"/>
              <a:t>    return 0;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972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40611F-AEAD-E75B-2C42-BB9B75B1DB52}"/>
              </a:ext>
            </a:extLst>
          </p:cNvPr>
          <p:cNvSpPr txBox="1"/>
          <p:nvPr/>
        </p:nvSpPr>
        <p:spPr>
          <a:xfrm>
            <a:off x="1493134" y="798653"/>
            <a:ext cx="964171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3. </a:t>
            </a:r>
            <a:r>
              <a:rPr lang="en-US" sz="2000" b="1" dirty="0"/>
              <a:t>Parse tree for the grammar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Grammar:</a:t>
            </a:r>
          </a:p>
          <a:p>
            <a:endParaRPr lang="en-US" sz="2000" b="1" dirty="0"/>
          </a:p>
          <a:p>
            <a:r>
              <a:rPr lang="en-US" sz="2000" dirty="0"/>
              <a:t>S → </a:t>
            </a:r>
            <a:r>
              <a:rPr lang="en-US" sz="2000" dirty="0" err="1"/>
              <a:t>aSa</a:t>
            </a:r>
            <a:r>
              <a:rPr lang="en-US" sz="2000" dirty="0"/>
              <a:t> | </a:t>
            </a:r>
            <a:r>
              <a:rPr lang="en-US" sz="2000" dirty="0" err="1"/>
              <a:t>bSb</a:t>
            </a:r>
            <a:r>
              <a:rPr lang="en-US" sz="2000" dirty="0"/>
              <a:t> | c</a:t>
            </a:r>
          </a:p>
          <a:p>
            <a:r>
              <a:rPr lang="en-US" sz="2000" dirty="0"/>
              <a:t>Input string: "</a:t>
            </a:r>
            <a:r>
              <a:rPr lang="en-US" sz="2000" dirty="0" err="1"/>
              <a:t>cbc</a:t>
            </a:r>
            <a:r>
              <a:rPr lang="en-US" sz="2000" dirty="0"/>
              <a:t>“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Derivation</a:t>
            </a:r>
          </a:p>
          <a:p>
            <a:r>
              <a:rPr lang="en-US" sz="2000" dirty="0"/>
              <a:t>•  Start with S</a:t>
            </a:r>
          </a:p>
          <a:p>
            <a:r>
              <a:rPr lang="en-US" sz="2000" dirty="0"/>
              <a:t>•  Use production S → </a:t>
            </a:r>
            <a:r>
              <a:rPr lang="en-US" sz="2000" dirty="0" err="1"/>
              <a:t>bSb</a:t>
            </a:r>
            <a:endParaRPr lang="en-US" sz="2000" dirty="0"/>
          </a:p>
          <a:p>
            <a:r>
              <a:rPr lang="en-US" sz="2000" dirty="0"/>
              <a:t>•  Replace inner S with c</a:t>
            </a:r>
          </a:p>
        </p:txBody>
      </p:sp>
    </p:spTree>
    <p:extLst>
      <p:ext uri="{BB962C8B-B14F-4D97-AF65-F5344CB8AC3E}">
        <p14:creationId xmlns:p14="http://schemas.microsoft.com/office/powerpoint/2010/main" val="127690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AC2B3-B51A-2E3B-6C22-84D43713F375}"/>
              </a:ext>
            </a:extLst>
          </p:cNvPr>
          <p:cNvSpPr txBox="1"/>
          <p:nvPr/>
        </p:nvSpPr>
        <p:spPr>
          <a:xfrm>
            <a:off x="752354" y="902826"/>
            <a:ext cx="112505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Parse Tree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        S</a:t>
            </a:r>
          </a:p>
          <a:p>
            <a:r>
              <a:rPr lang="en-US" dirty="0"/>
              <a:t>      / | \</a:t>
            </a:r>
          </a:p>
          <a:p>
            <a:r>
              <a:rPr lang="en-US" dirty="0"/>
              <a:t>     b  S  b</a:t>
            </a:r>
          </a:p>
          <a:p>
            <a:r>
              <a:rPr lang="en-US" dirty="0"/>
              <a:t>        |</a:t>
            </a:r>
          </a:p>
          <a:p>
            <a:r>
              <a:rPr lang="en-US" dirty="0"/>
              <a:t>        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Explanation</a:t>
            </a:r>
          </a:p>
          <a:p>
            <a:r>
              <a:rPr lang="en-US" dirty="0"/>
              <a:t>•  The root is S</a:t>
            </a:r>
          </a:p>
          <a:p>
            <a:r>
              <a:rPr lang="en-US" dirty="0"/>
              <a:t>•  It expands to b S b</a:t>
            </a:r>
          </a:p>
          <a:p>
            <a:r>
              <a:rPr lang="en-US" dirty="0"/>
              <a:t>•  The inner S expands to terminal c</a:t>
            </a:r>
          </a:p>
          <a:p>
            <a:r>
              <a:rPr lang="en-US" dirty="0"/>
              <a:t>•  Reading the leaves left to right gives the string "</a:t>
            </a:r>
            <a:r>
              <a:rPr lang="en-US" dirty="0" err="1"/>
              <a:t>cbc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75126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50961-EF4C-BF3B-1DDF-ED3E62794596}"/>
              </a:ext>
            </a:extLst>
          </p:cNvPr>
          <p:cNvSpPr txBox="1"/>
          <p:nvPr/>
        </p:nvSpPr>
        <p:spPr>
          <a:xfrm>
            <a:off x="863600" y="1028343"/>
            <a:ext cx="1027176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heart of how a compiler or interpreter's” lexical analyzer”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tokenizer) works is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lexer’s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scans the source code character by character, grouping sequences into meaningful chunks called tokens. A token has a type (e.g., `IDENTIFIER`, `NUMBER`, `STRING_LITERAL`) and a value (the actual text).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Tokenization Process for a String Literal 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.Recognize the Delimiter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encounters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delimiter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—most commonly a double quote (`"`) or a single quote (`'`). Some languages also have multi-line delimiters (e.g., `` ` `` in JavaScript for template literals).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this point,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switches from "normal" mode to "string literal" mode. Its goal is now to find the matching closing delimiter.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66918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01C120-50A8-52A8-7580-B96BD08035B8}"/>
              </a:ext>
            </a:extLst>
          </p:cNvPr>
          <p:cNvSpPr txBox="1"/>
          <p:nvPr/>
        </p:nvSpPr>
        <p:spPr>
          <a:xfrm>
            <a:off x="1209040" y="1046480"/>
            <a:ext cx="91643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.Consume Characters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reads characters one by one, accumulating them into a buffer.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Characters:Most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characters (letters, digits, spaces, punctuation) are added directly to the buffer.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Escape Character (``): This is the critical part. When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sees the escape character, it enters an "escape sequence" sub-mode.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– It reads the next character(s) to determine the special meaning.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– It converts this sequence into a single logical character and adds that to the buffer, not the raw </a:t>
            </a:r>
          </a:p>
        </p:txBody>
      </p:sp>
    </p:spTree>
    <p:extLst>
      <p:ext uri="{BB962C8B-B14F-4D97-AF65-F5344CB8AC3E}">
        <p14:creationId xmlns:p14="http://schemas.microsoft.com/office/powerpoint/2010/main" val="696189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04D9EE-449C-9DC7-7CCB-0E7CF83C6190}"/>
              </a:ext>
            </a:extLst>
          </p:cNvPr>
          <p:cNvSpPr txBox="1"/>
          <p:nvPr/>
        </p:nvSpPr>
        <p:spPr>
          <a:xfrm>
            <a:off x="1087120" y="843281"/>
            <a:ext cx="100279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.Find the Closing Delimiter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continues until it finds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non-escaped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closing delimiter (the same character that opened the string).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it finds a delimiter that is preceded by an escape character (`\"`), it adds a quote to the buffer and continues.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it finds a delimiter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preceded by an escape character, the string literal is complete.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.Produce the Token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a token: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`STRING_LITERAL`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processed contents of the buffer (the "cooked" string with escape sequences already interpreted). This is often stored in a more efficient internal format. 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exits "string mode" and resumes normal tokenization.</a:t>
            </a:r>
          </a:p>
        </p:txBody>
      </p:sp>
    </p:spTree>
    <p:extLst>
      <p:ext uri="{BB962C8B-B14F-4D97-AF65-F5344CB8AC3E}">
        <p14:creationId xmlns:p14="http://schemas.microsoft.com/office/powerpoint/2010/main" val="1097244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138A8-F96C-0A34-1917-35607819974C}"/>
              </a:ext>
            </a:extLst>
          </p:cNvPr>
          <p:cNvSpPr txBox="1"/>
          <p:nvPr/>
        </p:nvSpPr>
        <p:spPr>
          <a:xfrm>
            <a:off x="2021840" y="1188720"/>
            <a:ext cx="8646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Code: `"Say \"Hello\"\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nWorld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"` 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Lexer sees `"` → Enters string mode.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Reads `S`, `a`, `y`, ` ` → adds to buffer.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Sees `` → enters escape mode.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 – Next char is `"` → converts to a literal `"`, adds to buffer.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Reads `H`, `e`, `l`, `l`, `o` → adds.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Sees `` → escape mode again.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 – Next char is `"` → adds literal `"`.</a:t>
            </a:r>
          </a:p>
        </p:txBody>
      </p:sp>
    </p:spTree>
    <p:extLst>
      <p:ext uri="{BB962C8B-B14F-4D97-AF65-F5344CB8AC3E}">
        <p14:creationId xmlns:p14="http://schemas.microsoft.com/office/powerpoint/2010/main" val="4068516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DE9BB2-28BE-DE95-EB7E-167293270C53}"/>
              </a:ext>
            </a:extLst>
          </p:cNvPr>
          <p:cNvSpPr txBox="1"/>
          <p:nvPr/>
        </p:nvSpPr>
        <p:spPr>
          <a:xfrm>
            <a:off x="1950720" y="1808480"/>
            <a:ext cx="8067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Sees ` → escape mode.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 – Next char is n → converts to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newline character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adds it.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Reads W, o, r, l, d → adds.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Sees " (not preceded by `) → string is complete.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Produced: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 – Type: STRING_LITERAL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 – Value: The string in memory: Say "Hello", followed by a newline, followed by            World.</a:t>
            </a:r>
          </a:p>
        </p:txBody>
      </p:sp>
    </p:spTree>
    <p:extLst>
      <p:ext uri="{BB962C8B-B14F-4D97-AF65-F5344CB8AC3E}">
        <p14:creationId xmlns:p14="http://schemas.microsoft.com/office/powerpoint/2010/main" val="351123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1641E-2538-0D8E-8A11-466F202F3CD3}"/>
              </a:ext>
            </a:extLst>
          </p:cNvPr>
          <p:cNvSpPr txBox="1"/>
          <p:nvPr/>
        </p:nvSpPr>
        <p:spPr>
          <a:xfrm>
            <a:off x="1330960" y="889844"/>
            <a:ext cx="94894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</a:t>
            </a:r>
            <a:r>
              <a:rPr lang="en-US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1.Polymorphic (generic) functions allow functions to operate on multiple types using type parameters.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&lt;T&gt; T identity(T x) { return x; }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must ensure that:  </a:t>
            </a: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Generic parameters are correctly declared</a:t>
            </a: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Actual types are inferred or supplied</a:t>
            </a: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Type substitutions are consistent</a:t>
            </a:r>
          </a:p>
          <a:p>
            <a:pPr marL="0" lv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The function body is type-safe for all valid substitutions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 polymorphic function type is represented as: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∀α1, α2, ..., αn . (T1 × T2 × ... × Tk → Tr)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         α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type variables (generic parameters)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T1...Tk are parameter types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Tr is the return type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&lt;T&gt; T max(T a, T b)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∀T . (T × T → T)</a:t>
            </a:r>
          </a:p>
        </p:txBody>
      </p:sp>
    </p:spTree>
    <p:extLst>
      <p:ext uri="{BB962C8B-B14F-4D97-AF65-F5344CB8AC3E}">
        <p14:creationId xmlns:p14="http://schemas.microsoft.com/office/powerpoint/2010/main" val="2981487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BCF122-20E2-91A4-FB9C-C77D55C512BC}"/>
              </a:ext>
            </a:extLst>
          </p:cNvPr>
          <p:cNvSpPr txBox="1"/>
          <p:nvPr/>
        </p:nvSpPr>
        <p:spPr>
          <a:xfrm>
            <a:off x="1290320" y="965200"/>
            <a:ext cx="103428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Rules for Polymorphic Function Type Checking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Generic Parameter Declaration Rule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type variables must be explicitly declared in the function’s generic parameter list.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       &lt;T&gt; T id(T x)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     T id(T x)     // T not declared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Function Signature Formation Rule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defining a generic function: Parameter types and return type may include type variables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function’s type environment is extended with generic parameters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Rule       Γ, T ⊢ f : (T1 → T2)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 is a generic type variable.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Type Argument Resolution (Instantiation Rule)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function call: Generic type variables are replaced with concrete types and Substitution must be consistent across parameters</a:t>
            </a:r>
          </a:p>
        </p:txBody>
      </p:sp>
    </p:spTree>
    <p:extLst>
      <p:ext uri="{BB962C8B-B14F-4D97-AF65-F5344CB8AC3E}">
        <p14:creationId xmlns:p14="http://schemas.microsoft.com/office/powerpoint/2010/main" val="3039494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9DEA51-F6B6-860D-F6F6-2F45E25C1DB0}"/>
              </a:ext>
            </a:extLst>
          </p:cNvPr>
          <p:cNvSpPr txBox="1"/>
          <p:nvPr/>
        </p:nvSpPr>
        <p:spPr>
          <a:xfrm>
            <a:off x="1950720" y="1859340"/>
            <a:ext cx="87477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  identity&lt;int&gt;(5)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Substitution: T → int or via inference: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identity(5) → T = int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Formal Typing Rule (Inference Style)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Polymorphic Function Application Rule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⊢ f : ∀T . (T1 → T2)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⊢ a : S1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σ(T1) = S1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———————————————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 ⊢ f(a) : σ(T2)</a:t>
            </a:r>
          </a:p>
        </p:txBody>
      </p:sp>
    </p:spTree>
    <p:extLst>
      <p:ext uri="{BB962C8B-B14F-4D97-AF65-F5344CB8AC3E}">
        <p14:creationId xmlns:p14="http://schemas.microsoft.com/office/powerpoint/2010/main" val="245370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5F1287-033B-5688-D5A0-F096C9825CE3}"/>
              </a:ext>
            </a:extLst>
          </p:cNvPr>
          <p:cNvSpPr txBox="1"/>
          <p:nvPr/>
        </p:nvSpPr>
        <p:spPr>
          <a:xfrm>
            <a:off x="2103120" y="1859340"/>
            <a:ext cx="84124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σ is the type substitution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S1 is the argument type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Semantic Errors Detected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semantic analyzer must report: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Undeclared generic type variables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Inconsistent substitutions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Invalid operations on type variables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Constraint violations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type mismatches</a:t>
            </a:r>
          </a:p>
          <a:p>
            <a:pPr marL="0" indent="0">
              <a:buNone/>
            </a:pPr>
            <a:r>
              <a:rPr lang="en-US" sz="18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24346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1B7755-68B9-F59F-C4FF-B66CA0030FE3}"/>
              </a:ext>
            </a:extLst>
          </p:cNvPr>
          <p:cNvSpPr txBox="1"/>
          <p:nvPr/>
        </p:nvSpPr>
        <p:spPr>
          <a:xfrm>
            <a:off x="1991360" y="1869440"/>
            <a:ext cx="80060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Demonstration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Function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&lt;T&gt; T identity(T x) {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 return x;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identity(10)      → T = int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identity("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   → T = string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identity(10.5)    → T = double</a:t>
            </a:r>
          </a:p>
        </p:txBody>
      </p:sp>
    </p:spTree>
    <p:extLst>
      <p:ext uri="{BB962C8B-B14F-4D97-AF65-F5344CB8AC3E}">
        <p14:creationId xmlns:p14="http://schemas.microsoft.com/office/powerpoint/2010/main" val="3886374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7810D3-45A0-EE28-5B05-946DA754E0A6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Call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identity(10, 20)  // arity mismatch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Conclusion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Polymorphic function type checking ensures: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Safe reuse of code across types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Correct type substitution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Early detection of semantic errors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Strong guarantees before code generation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It is a critical component of semantic analysis in modern compiler design.</a:t>
            </a:r>
          </a:p>
        </p:txBody>
      </p:sp>
    </p:spTree>
    <p:extLst>
      <p:ext uri="{BB962C8B-B14F-4D97-AF65-F5344CB8AC3E}">
        <p14:creationId xmlns:p14="http://schemas.microsoft.com/office/powerpoint/2010/main" val="3783026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89</TotalTime>
  <Words>1518</Words>
  <Application>Microsoft Office PowerPoint</Application>
  <PresentationFormat>Widescreen</PresentationFormat>
  <Paragraphs>219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Garamond</vt:lpstr>
      <vt:lpstr>Times New Roman</vt:lpstr>
      <vt:lpstr>Wingdings</vt:lpstr>
      <vt:lpstr>Savon</vt:lpstr>
      <vt:lpstr>Bahir dar university department of computing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Victus</dc:creator>
  <cp:lastModifiedBy>Victus</cp:lastModifiedBy>
  <cp:revision>4</cp:revision>
  <dcterms:created xsi:type="dcterms:W3CDTF">2026-01-22T22:34:58Z</dcterms:created>
  <dcterms:modified xsi:type="dcterms:W3CDTF">2026-01-23T11:37:27Z</dcterms:modified>
</cp:coreProperties>
</file>